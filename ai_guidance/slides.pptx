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8"/>
  </p:notesMasterIdLst>
  <p:sldIdLst>
    <p:sldId id="260" r:id="rId2"/>
    <p:sldId id="257" r:id="rId3"/>
    <p:sldId id="259" r:id="rId4"/>
    <p:sldId id="258" r:id="rId5"/>
    <p:sldId id="262" r:id="rId6"/>
    <p:sldId id="655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7" autoAdjust="0"/>
    <p:restoredTop sz="94660"/>
  </p:normalViewPr>
  <p:slideViewPr>
    <p:cSldViewPr snapToGrid="0">
      <p:cViewPr varScale="1">
        <p:scale>
          <a:sx n="64" d="100"/>
          <a:sy n="64" d="100"/>
        </p:scale>
        <p:origin x="57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el Vecchio, Joanmarie" userId="e815b4b3-5a62-483b-80c1-75d945029830" providerId="ADAL" clId="{9C87429D-147A-42EB-9A9A-321A1153500E}"/>
    <pc:docChg chg="undo custSel addSld delSld modSld sldOrd">
      <pc:chgData name="Del Vecchio, Joanmarie" userId="e815b4b3-5a62-483b-80c1-75d945029830" providerId="ADAL" clId="{9C87429D-147A-42EB-9A9A-321A1153500E}" dt="2026-01-23T16:28:21.323" v="3812" actId="47"/>
      <pc:docMkLst>
        <pc:docMk/>
      </pc:docMkLst>
      <pc:sldChg chg="del">
        <pc:chgData name="Del Vecchio, Joanmarie" userId="e815b4b3-5a62-483b-80c1-75d945029830" providerId="ADAL" clId="{9C87429D-147A-42EB-9A9A-321A1153500E}" dt="2026-01-23T16:27:30.788" v="3801" actId="47"/>
        <pc:sldMkLst>
          <pc:docMk/>
          <pc:sldMk cId="3059110249" sldId="256"/>
        </pc:sldMkLst>
      </pc:sldChg>
      <pc:sldChg chg="modSp add mod">
        <pc:chgData name="Del Vecchio, Joanmarie" userId="e815b4b3-5a62-483b-80c1-75d945029830" providerId="ADAL" clId="{9C87429D-147A-42EB-9A9A-321A1153500E}" dt="2026-01-09T18:48:00.845" v="2" actId="27636"/>
        <pc:sldMkLst>
          <pc:docMk/>
          <pc:sldMk cId="3525760171" sldId="257"/>
        </pc:sldMkLst>
        <pc:spChg chg="mod">
          <ac:chgData name="Del Vecchio, Joanmarie" userId="e815b4b3-5a62-483b-80c1-75d945029830" providerId="ADAL" clId="{9C87429D-147A-42EB-9A9A-321A1153500E}" dt="2026-01-09T18:48:00.845" v="2" actId="27636"/>
          <ac:spMkLst>
            <pc:docMk/>
            <pc:sldMk cId="3525760171" sldId="257"/>
            <ac:spMk id="3" creationId="{C1C01FF3-58AE-F008-5363-EA1621E16B7D}"/>
          </ac:spMkLst>
        </pc:spChg>
      </pc:sldChg>
      <pc:sldChg chg="add">
        <pc:chgData name="Del Vecchio, Joanmarie" userId="e815b4b3-5a62-483b-80c1-75d945029830" providerId="ADAL" clId="{9C87429D-147A-42EB-9A9A-321A1153500E}" dt="2026-01-09T18:48:00.650" v="1"/>
        <pc:sldMkLst>
          <pc:docMk/>
          <pc:sldMk cId="1771703265" sldId="258"/>
        </pc:sldMkLst>
      </pc:sldChg>
      <pc:sldChg chg="modSp add mod">
        <pc:chgData name="Del Vecchio, Joanmarie" userId="e815b4b3-5a62-483b-80c1-75d945029830" providerId="ADAL" clId="{9C87429D-147A-42EB-9A9A-321A1153500E}" dt="2026-01-09T18:48:00.854" v="3" actId="27636"/>
        <pc:sldMkLst>
          <pc:docMk/>
          <pc:sldMk cId="135009465" sldId="259"/>
        </pc:sldMkLst>
        <pc:spChg chg="mod">
          <ac:chgData name="Del Vecchio, Joanmarie" userId="e815b4b3-5a62-483b-80c1-75d945029830" providerId="ADAL" clId="{9C87429D-147A-42EB-9A9A-321A1153500E}" dt="2026-01-09T18:48:00.854" v="3" actId="27636"/>
          <ac:spMkLst>
            <pc:docMk/>
            <pc:sldMk cId="135009465" sldId="259"/>
            <ac:spMk id="13" creationId="{2C60C0AE-6C0F-715F-F743-D1D7759FF2C5}"/>
          </ac:spMkLst>
        </pc:spChg>
      </pc:sldChg>
      <pc:sldChg chg="modSp add mod">
        <pc:chgData name="Del Vecchio, Joanmarie" userId="e815b4b3-5a62-483b-80c1-75d945029830" providerId="ADAL" clId="{9C87429D-147A-42EB-9A9A-321A1153500E}" dt="2026-01-13T01:58:33.551" v="2978" actId="1076"/>
        <pc:sldMkLst>
          <pc:docMk/>
          <pc:sldMk cId="1773003485" sldId="260"/>
        </pc:sldMkLst>
        <pc:spChg chg="mod">
          <ac:chgData name="Del Vecchio, Joanmarie" userId="e815b4b3-5a62-483b-80c1-75d945029830" providerId="ADAL" clId="{9C87429D-147A-42EB-9A9A-321A1153500E}" dt="2026-01-13T01:58:33.551" v="2978" actId="1076"/>
          <ac:spMkLst>
            <pc:docMk/>
            <pc:sldMk cId="1773003485" sldId="260"/>
            <ac:spMk id="5" creationId="{A88FAC68-AD16-B73C-A540-8167B4DB0867}"/>
          </ac:spMkLst>
        </pc:spChg>
      </pc:sldChg>
      <pc:sldChg chg="modSp add del mod">
        <pc:chgData name="Del Vecchio, Joanmarie" userId="e815b4b3-5a62-483b-80c1-75d945029830" providerId="ADAL" clId="{9C87429D-147A-42EB-9A9A-321A1153500E}" dt="2026-01-23T16:28:21.323" v="3812" actId="47"/>
        <pc:sldMkLst>
          <pc:docMk/>
          <pc:sldMk cId="1076479987" sldId="261"/>
        </pc:sldMkLst>
        <pc:spChg chg="mod">
          <ac:chgData name="Del Vecchio, Joanmarie" userId="e815b4b3-5a62-483b-80c1-75d945029830" providerId="ADAL" clId="{9C87429D-147A-42EB-9A9A-321A1153500E}" dt="2026-01-13T02:01:25.766" v="3053" actId="20577"/>
          <ac:spMkLst>
            <pc:docMk/>
            <pc:sldMk cId="1076479987" sldId="261"/>
            <ac:spMk id="2" creationId="{38DB39E6-59BA-685A-27E1-BDBF0AB0C372}"/>
          </ac:spMkLst>
        </pc:spChg>
        <pc:spChg chg="mod">
          <ac:chgData name="Del Vecchio, Joanmarie" userId="e815b4b3-5a62-483b-80c1-75d945029830" providerId="ADAL" clId="{9C87429D-147A-42EB-9A9A-321A1153500E}" dt="2026-01-13T02:09:58.625" v="3800" actId="113"/>
          <ac:spMkLst>
            <pc:docMk/>
            <pc:sldMk cId="1076479987" sldId="261"/>
            <ac:spMk id="3" creationId="{E66814ED-23D8-F583-FB8E-03AA130EA47D}"/>
          </ac:spMkLst>
        </pc:spChg>
        <pc:spChg chg="mod">
          <ac:chgData name="Del Vecchio, Joanmarie" userId="e815b4b3-5a62-483b-80c1-75d945029830" providerId="ADAL" clId="{9C87429D-147A-42EB-9A9A-321A1153500E}" dt="2026-01-13T02:00:44.696" v="3005" actId="1076"/>
          <ac:spMkLst>
            <pc:docMk/>
            <pc:sldMk cId="1076479987" sldId="261"/>
            <ac:spMk id="4" creationId="{36BF5DD3-D4C2-5EE8-D812-067BF0104279}"/>
          </ac:spMkLst>
        </pc:spChg>
      </pc:sldChg>
      <pc:sldChg chg="add">
        <pc:chgData name="Del Vecchio, Joanmarie" userId="e815b4b3-5a62-483b-80c1-75d945029830" providerId="ADAL" clId="{9C87429D-147A-42EB-9A9A-321A1153500E}" dt="2026-01-09T18:48:00.650" v="1"/>
        <pc:sldMkLst>
          <pc:docMk/>
          <pc:sldMk cId="3842400918" sldId="262"/>
        </pc:sldMkLst>
      </pc:sldChg>
      <pc:sldChg chg="modSp add del mod">
        <pc:chgData name="Del Vecchio, Joanmarie" userId="e815b4b3-5a62-483b-80c1-75d945029830" providerId="ADAL" clId="{9C87429D-147A-42EB-9A9A-321A1153500E}" dt="2026-01-23T16:27:30.788" v="3801" actId="47"/>
        <pc:sldMkLst>
          <pc:docMk/>
          <pc:sldMk cId="208621256" sldId="263"/>
        </pc:sldMkLst>
      </pc:sldChg>
      <pc:sldChg chg="addSp delSp modSp del mod modAnim">
        <pc:chgData name="Del Vecchio, Joanmarie" userId="e815b4b3-5a62-483b-80c1-75d945029830" providerId="ADAL" clId="{9C87429D-147A-42EB-9A9A-321A1153500E}" dt="2026-01-23T16:27:30.788" v="3801" actId="47"/>
        <pc:sldMkLst>
          <pc:docMk/>
          <pc:sldMk cId="290920921" sldId="647"/>
        </pc:sldMkLst>
      </pc:sldChg>
      <pc:sldChg chg="addSp modSp new del mod ord modAnim">
        <pc:chgData name="Del Vecchio, Joanmarie" userId="e815b4b3-5a62-483b-80c1-75d945029830" providerId="ADAL" clId="{9C87429D-147A-42EB-9A9A-321A1153500E}" dt="2026-01-23T16:27:30.788" v="3801" actId="47"/>
        <pc:sldMkLst>
          <pc:docMk/>
          <pc:sldMk cId="352166081" sldId="650"/>
        </pc:sldMkLst>
      </pc:sldChg>
      <pc:sldChg chg="modSp new del mod">
        <pc:chgData name="Del Vecchio, Joanmarie" userId="e815b4b3-5a62-483b-80c1-75d945029830" providerId="ADAL" clId="{9C87429D-147A-42EB-9A9A-321A1153500E}" dt="2026-01-23T16:27:30.788" v="3801" actId="47"/>
        <pc:sldMkLst>
          <pc:docMk/>
          <pc:sldMk cId="3172100288" sldId="652"/>
        </pc:sldMkLst>
      </pc:sldChg>
      <pc:sldChg chg="modSp new del mod">
        <pc:chgData name="Del Vecchio, Joanmarie" userId="e815b4b3-5a62-483b-80c1-75d945029830" providerId="ADAL" clId="{9C87429D-147A-42EB-9A9A-321A1153500E}" dt="2026-01-23T16:27:30.788" v="3801" actId="47"/>
        <pc:sldMkLst>
          <pc:docMk/>
          <pc:sldMk cId="4083182737" sldId="653"/>
        </pc:sldMkLst>
      </pc:sldChg>
      <pc:sldChg chg="modSp new del mod">
        <pc:chgData name="Del Vecchio, Joanmarie" userId="e815b4b3-5a62-483b-80c1-75d945029830" providerId="ADAL" clId="{9C87429D-147A-42EB-9A9A-321A1153500E}" dt="2026-01-23T16:28:20.569" v="3811" actId="47"/>
        <pc:sldMkLst>
          <pc:docMk/>
          <pc:sldMk cId="3747675951" sldId="654"/>
        </pc:sldMkLst>
        <pc:spChg chg="mod">
          <ac:chgData name="Del Vecchio, Joanmarie" userId="e815b4b3-5a62-483b-80c1-75d945029830" providerId="ADAL" clId="{9C87429D-147A-42EB-9A9A-321A1153500E}" dt="2026-01-13T02:02:07.550" v="3147" actId="20577"/>
          <ac:spMkLst>
            <pc:docMk/>
            <pc:sldMk cId="3747675951" sldId="654"/>
            <ac:spMk id="2" creationId="{F47E2B1F-E8F3-6F84-75C6-DD797F287C84}"/>
          </ac:spMkLst>
        </pc:spChg>
        <pc:spChg chg="mod">
          <ac:chgData name="Del Vecchio, Joanmarie" userId="e815b4b3-5a62-483b-80c1-75d945029830" providerId="ADAL" clId="{9C87429D-147A-42EB-9A9A-321A1153500E}" dt="2026-01-13T02:08:44.258" v="3749" actId="20577"/>
          <ac:spMkLst>
            <pc:docMk/>
            <pc:sldMk cId="3747675951" sldId="654"/>
            <ac:spMk id="3" creationId="{D25EEEB8-38AB-4286-CF74-66C40F611D02}"/>
          </ac:spMkLst>
        </pc:spChg>
      </pc:sldChg>
      <pc:sldChg chg="addSp delSp modSp new mod">
        <pc:chgData name="Del Vecchio, Joanmarie" userId="e815b4b3-5a62-483b-80c1-75d945029830" providerId="ADAL" clId="{9C87429D-147A-42EB-9A9A-321A1153500E}" dt="2026-01-23T16:28:18.164" v="3810" actId="478"/>
        <pc:sldMkLst>
          <pc:docMk/>
          <pc:sldMk cId="175754112" sldId="655"/>
        </pc:sldMkLst>
        <pc:spChg chg="del">
          <ac:chgData name="Del Vecchio, Joanmarie" userId="e815b4b3-5a62-483b-80c1-75d945029830" providerId="ADAL" clId="{9C87429D-147A-42EB-9A9A-321A1153500E}" dt="2026-01-23T16:28:18.164" v="3810" actId="478"/>
          <ac:spMkLst>
            <pc:docMk/>
            <pc:sldMk cId="175754112" sldId="655"/>
            <ac:spMk id="2" creationId="{53093BEB-5873-1B5C-CFFA-5498B69B58CF}"/>
          </ac:spMkLst>
        </pc:spChg>
        <pc:spChg chg="add mod">
          <ac:chgData name="Del Vecchio, Joanmarie" userId="e815b4b3-5a62-483b-80c1-75d945029830" providerId="ADAL" clId="{9C87429D-147A-42EB-9A9A-321A1153500E}" dt="2026-01-23T16:28:16.963" v="3809" actId="1076"/>
          <ac:spMkLst>
            <pc:docMk/>
            <pc:sldMk cId="175754112" sldId="655"/>
            <ac:spMk id="4" creationId="{E726E413-AD2F-93F8-D1C4-D4C81A26BAD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9428DC-9D7A-4696-8859-DAD62F22C80B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E9A026-A58B-4461-9CF0-859788FBF4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16879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EFDB93-9229-40B7-A409-09CA6EC97E8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496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139DD9A5-37FD-4936-81CF-7B524223178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08195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ss (no section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044B01-5ABE-4B01-B09B-10C051D5454E}" type="slidenum">
              <a:rPr lang="en-US" smtClean="0"/>
              <a:t>‹#›</a:t>
            </a:fld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C551F2-5F79-C0F0-F92D-F692FFA1EA74}"/>
              </a:ext>
            </a:extLst>
          </p:cNvPr>
          <p:cNvSpPr/>
          <p:nvPr/>
        </p:nvSpPr>
        <p:spPr>
          <a:xfrm>
            <a:off x="0" y="6392847"/>
            <a:ext cx="10662699" cy="4651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7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663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139DD9A5-37FD-4936-81CF-7B524223178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263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139DD9A5-37FD-4936-81CF-7B524223178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354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139DD9A5-37FD-4936-81CF-7B524223178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3634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739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5B0333D-05D0-97A6-7BDA-993FAD65C365}"/>
              </a:ext>
            </a:extLst>
          </p:cNvPr>
          <p:cNvSpPr/>
          <p:nvPr/>
        </p:nvSpPr>
        <p:spPr>
          <a:xfrm>
            <a:off x="1" y="6397428"/>
            <a:ext cx="2643446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733B2EC-570B-1E39-3D9B-D5BA0704FC55}"/>
              </a:ext>
            </a:extLst>
          </p:cNvPr>
          <p:cNvSpPr/>
          <p:nvPr/>
        </p:nvSpPr>
        <p:spPr>
          <a:xfrm>
            <a:off x="2643447" y="6400800"/>
            <a:ext cx="2643446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0ACCC6-D49B-23AB-4EAD-0B5DE4426907}"/>
              </a:ext>
            </a:extLst>
          </p:cNvPr>
          <p:cNvSpPr/>
          <p:nvPr/>
        </p:nvSpPr>
        <p:spPr>
          <a:xfrm>
            <a:off x="5286893" y="6400800"/>
            <a:ext cx="2643446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F8B7A6D-68F2-5BF6-0C59-6889F63EC9A9}"/>
              </a:ext>
            </a:extLst>
          </p:cNvPr>
          <p:cNvSpPr/>
          <p:nvPr/>
        </p:nvSpPr>
        <p:spPr>
          <a:xfrm>
            <a:off x="7930339" y="6408336"/>
            <a:ext cx="2643446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8432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139DD9A5-37FD-4936-81CF-7B524223178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885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139DD9A5-37FD-4936-81CF-7B524223178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122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139DD9A5-37FD-4936-81CF-7B524223178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9726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/>
          <a:lstStyle/>
          <a:p>
            <a:fld id="{139DD9A5-37FD-4936-81CF-7B5242231782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9448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98602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272138"/>
            <a:ext cx="10058400" cy="459695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98233" y="6446837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0123C100-0434-4CF3-8B37-4C4C9526EDC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097280" y="1272624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7838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arpentries.org/blog/2025/08/genai-curriculum-discussions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carpentries.org/blog/2025/02/the-ethics-of-teaching-llms-in-carpentries-workshops/" TargetMode="External"/><Relationship Id="rId4" Type="http://schemas.openxmlformats.org/officeDocument/2006/relationships/hyperlink" Target="https://carpentries.org/blog/posts-by-tags/#blog-tag-artificial-intelligence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Approaches%20to%20Teaching%20With%20Generative%20AI" TargetMode="External"/><Relationship Id="rId2" Type="http://schemas.openxmlformats.org/officeDocument/2006/relationships/hyperlink" Target="https://www.wm.edu/as/wcc/aistatement/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Instructor%20GenAI%20Policy%20Communication%20Guidelin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7EB8F-7008-BF0C-4D45-8D4BBD83B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Insights from Software Carpentry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D413-8473-E248-00FA-6502FC9BE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358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dirty="0"/>
              <a:t>“The effective use of </a:t>
            </a:r>
            <a:r>
              <a:rPr lang="en-US" sz="2000" dirty="0" err="1"/>
              <a:t>genAI</a:t>
            </a:r>
            <a:r>
              <a:rPr lang="en-US" sz="2000" dirty="0"/>
              <a:t> to produce code and – even more importantly – the ability to </a:t>
            </a:r>
            <a:r>
              <a:rPr lang="en-US" sz="2000" b="1" dirty="0"/>
              <a:t>critically evaluate what is produced</a:t>
            </a:r>
            <a:r>
              <a:rPr lang="en-US" sz="2000" dirty="0"/>
              <a:t>, requires that the user first has a </a:t>
            </a:r>
            <a:r>
              <a:rPr lang="en-US" sz="2000" b="1" dirty="0"/>
              <a:t>grasp of the fundamentals of coding.</a:t>
            </a:r>
            <a:r>
              <a:rPr lang="en-US" sz="2000" dirty="0"/>
              <a:t>”</a:t>
            </a:r>
          </a:p>
          <a:p>
            <a:r>
              <a:rPr lang="en-US" sz="2000" dirty="0"/>
              <a:t>“I fear a growing misconception </a:t>
            </a:r>
            <a:r>
              <a:rPr lang="en-US" sz="2000" b="1" dirty="0"/>
              <a:t>that good practices for reproducibility and robustness of analysis</a:t>
            </a:r>
            <a:r>
              <a:rPr lang="en-US" sz="2000" dirty="0"/>
              <a:t> are no longer necessary or important.”</a:t>
            </a:r>
          </a:p>
          <a:p>
            <a:r>
              <a:rPr lang="en-US" sz="2000" dirty="0"/>
              <a:t>“…early-career researchers and data scientists are </a:t>
            </a:r>
            <a:r>
              <a:rPr lang="en-US" sz="2000" b="1" dirty="0"/>
              <a:t>under just as much pressure </a:t>
            </a:r>
            <a:r>
              <a:rPr lang="en-US" sz="2000" dirty="0"/>
              <a:t>as they always have been to get results and publish them.”</a:t>
            </a:r>
          </a:p>
          <a:p>
            <a:r>
              <a:rPr lang="en-US" sz="2000" dirty="0"/>
              <a:t>“How would researchers feel about admitting to </a:t>
            </a:r>
            <a:r>
              <a:rPr lang="en-US" sz="2000" b="1" dirty="0"/>
              <a:t>relying on </a:t>
            </a:r>
            <a:r>
              <a:rPr lang="en-US" sz="2000" b="1" dirty="0" err="1"/>
              <a:t>genAI</a:t>
            </a:r>
            <a:r>
              <a:rPr lang="en-US" sz="2000" b="1" dirty="0"/>
              <a:t> to craft or understand results </a:t>
            </a:r>
            <a:r>
              <a:rPr lang="en-US" sz="2000" dirty="0"/>
              <a:t>within a paper, a conference talk, or a poster, or hearing about others who have done the same?”</a:t>
            </a:r>
          </a:p>
          <a:p>
            <a:r>
              <a:rPr lang="en-US" sz="2000" dirty="0"/>
              <a:t>“How can The Carpentries best reach people at risk of making mistakes with these tools: integrating incorrect code or </a:t>
            </a:r>
            <a:r>
              <a:rPr lang="en-US" sz="2000" b="1" dirty="0"/>
              <a:t>fabricated results </a:t>
            </a:r>
            <a:r>
              <a:rPr lang="en-US" sz="2000" dirty="0"/>
              <a:t>into their analyses, </a:t>
            </a:r>
            <a:r>
              <a:rPr lang="en-US" sz="2000" b="1" dirty="0"/>
              <a:t>de-skilling themselves</a:t>
            </a:r>
            <a:r>
              <a:rPr lang="en-US" sz="2000" dirty="0"/>
              <a:t>, and/or producing software that cannot be maintained or sustained in the long term?”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8FAC68-AD16-B73C-A540-8167B4DB0867}"/>
              </a:ext>
            </a:extLst>
          </p:cNvPr>
          <p:cNvSpPr txBox="1"/>
          <p:nvPr/>
        </p:nvSpPr>
        <p:spPr>
          <a:xfrm>
            <a:off x="792480" y="5402031"/>
            <a:ext cx="10668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hlinkClick r:id="rId3"/>
              </a:rPr>
              <a:t>AI Carpentry? Helping learners make better choices with </a:t>
            </a:r>
            <a:r>
              <a:rPr lang="en-US" b="1" dirty="0" err="1">
                <a:hlinkClick r:id="rId3"/>
              </a:rPr>
              <a:t>genAI</a:t>
            </a:r>
            <a:r>
              <a:rPr lang="en-US" b="1" dirty="0">
                <a:hlinkClick r:id="rId3"/>
              </a:rPr>
              <a:t>.</a:t>
            </a:r>
            <a:endParaRPr lang="en-US" b="1" dirty="0"/>
          </a:p>
          <a:p>
            <a:r>
              <a:rPr lang="en-US" b="1" dirty="0">
                <a:hlinkClick r:id="rId4"/>
              </a:rPr>
              <a:t>Software Carpentry AI blog posts </a:t>
            </a:r>
            <a:endParaRPr lang="en-US" b="1" dirty="0"/>
          </a:p>
          <a:p>
            <a:r>
              <a:rPr lang="en-US" b="1" dirty="0">
                <a:hlinkClick r:id="rId5"/>
              </a:rPr>
              <a:t>Community Session Report: The Ethics of Teaching LLMs in Carpentries Workshops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73003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96678-CE34-86C9-F2EB-E946D49DE8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C01FF3-58AE-F008-5363-EA1621E16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Major ethical concerns raised by LLMs:</a:t>
            </a:r>
          </a:p>
          <a:p>
            <a:r>
              <a:rPr lang="en-US" dirty="0"/>
              <a:t>Environmental costs associated with training and running LLMs</a:t>
            </a:r>
          </a:p>
          <a:p>
            <a:r>
              <a:rPr lang="en-US" dirty="0"/>
              <a:t>Possible copyright infringement and uncredited use of material to train the models</a:t>
            </a:r>
          </a:p>
          <a:p>
            <a:r>
              <a:rPr lang="en-US" dirty="0"/>
              <a:t>Exploitation of workers in model training</a:t>
            </a:r>
          </a:p>
          <a:p>
            <a:r>
              <a:rPr lang="en-US" dirty="0"/>
              <a:t>Harmful use of the tools</a:t>
            </a:r>
          </a:p>
          <a:p>
            <a:r>
              <a:rPr lang="en-US" dirty="0"/>
              <a:t>Reducing critical thinking and problem solving ability</a:t>
            </a:r>
          </a:p>
          <a:p>
            <a:r>
              <a:rPr lang="en-US" dirty="0"/>
              <a:t>Propagation and reinforcement of biases</a:t>
            </a:r>
          </a:p>
          <a:p>
            <a:r>
              <a:rPr lang="en-US" dirty="0"/>
              <a:t>Data privacy and operational security concerns</a:t>
            </a:r>
          </a:p>
          <a:p>
            <a:r>
              <a:rPr lang="en-US" dirty="0"/>
              <a:t>Unequal access to models</a:t>
            </a:r>
          </a:p>
          <a:p>
            <a:pPr marL="0" indent="0">
              <a:buNone/>
            </a:pPr>
            <a:r>
              <a:rPr lang="en-US" dirty="0"/>
              <a:t>“Community Session Report: The Ethics of Teaching LLMs in Carpentries Workshops” by Toby Hodges, 19 February, 2025 https://carpentries.org/blog/2025/02/the-ethics-of-teaching-llms-in-carpentries-workshops/</a:t>
            </a:r>
          </a:p>
        </p:txBody>
      </p:sp>
    </p:spTree>
    <p:extLst>
      <p:ext uri="{BB962C8B-B14F-4D97-AF65-F5344CB8AC3E}">
        <p14:creationId xmlns:p14="http://schemas.microsoft.com/office/powerpoint/2010/main" val="3525760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A4DDDADE-34B1-2332-E47E-768BB69370C0}"/>
              </a:ext>
            </a:extLst>
          </p:cNvPr>
          <p:cNvGrpSpPr/>
          <p:nvPr/>
        </p:nvGrpSpPr>
        <p:grpSpPr>
          <a:xfrm>
            <a:off x="295391" y="1727679"/>
            <a:ext cx="5800609" cy="4024338"/>
            <a:chOff x="275303" y="1460979"/>
            <a:chExt cx="6282031" cy="4358338"/>
          </a:xfrm>
        </p:grpSpPr>
        <p:pic>
          <p:nvPicPr>
            <p:cNvPr id="3" name="Picture 2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139D88D4-146B-CD13-0ED6-A9132CC577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5303" y="1460979"/>
              <a:ext cx="6282031" cy="2444530"/>
            </a:xfrm>
            <a:prstGeom prst="rect">
              <a:avLst/>
            </a:prstGeom>
          </p:spPr>
        </p:pic>
        <p:pic>
          <p:nvPicPr>
            <p:cNvPr id="5" name="Picture 4" descr="A black rectangular object with a white background&#10;&#10;AI-generated content may be incorrect.">
              <a:extLst>
                <a:ext uri="{FF2B5EF4-FFF2-40B4-BE49-F238E27FC236}">
                  <a16:creationId xmlns:a16="http://schemas.microsoft.com/office/drawing/2014/main" id="{1E4F0F67-5124-27C5-64F0-4C60857B3C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5303" y="4023497"/>
              <a:ext cx="6282031" cy="1795820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18DB5D0-8643-9BF5-1C01-BD022D5E5C42}"/>
              </a:ext>
            </a:extLst>
          </p:cNvPr>
          <p:cNvGrpSpPr/>
          <p:nvPr/>
        </p:nvGrpSpPr>
        <p:grpSpPr>
          <a:xfrm>
            <a:off x="6895799" y="1109053"/>
            <a:ext cx="4794434" cy="5367947"/>
            <a:chOff x="6724349" y="737578"/>
            <a:chExt cx="5192348" cy="5813460"/>
          </a:xfrm>
        </p:grpSpPr>
        <p:pic>
          <p:nvPicPr>
            <p:cNvPr id="7" name="Picture 6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1D26279F-680B-B5D2-DB8C-A9D786A8E62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b="82576"/>
            <a:stretch>
              <a:fillRect/>
            </a:stretch>
          </p:blipFill>
          <p:spPr>
            <a:xfrm>
              <a:off x="6724349" y="737578"/>
              <a:ext cx="5192348" cy="781992"/>
            </a:xfrm>
            <a:prstGeom prst="rect">
              <a:avLst/>
            </a:prstGeom>
          </p:spPr>
        </p:pic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B2EDE013-3E29-14C9-D7C4-2724336FED0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b="16681"/>
            <a:stretch>
              <a:fillRect/>
            </a:stretch>
          </p:blipFill>
          <p:spPr>
            <a:xfrm>
              <a:off x="6891364" y="3840182"/>
              <a:ext cx="5025333" cy="2710856"/>
            </a:xfrm>
            <a:prstGeom prst="rect">
              <a:avLst/>
            </a:prstGeom>
            <a:solidFill>
              <a:schemeClr val="accent2"/>
            </a:solidFill>
            <a:ln w="38100">
              <a:solidFill>
                <a:srgbClr val="FFC000"/>
              </a:solidFill>
            </a:ln>
          </p:spPr>
        </p:pic>
        <p:pic>
          <p:nvPicPr>
            <p:cNvPr id="10" name="Picture 9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56450E80-C50F-015E-7397-EEABA5F0D2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49566"/>
            <a:stretch>
              <a:fillRect/>
            </a:stretch>
          </p:blipFill>
          <p:spPr>
            <a:xfrm>
              <a:off x="6724349" y="1519570"/>
              <a:ext cx="5192348" cy="2263462"/>
            </a:xfrm>
            <a:prstGeom prst="rect">
              <a:avLst/>
            </a:prstGeom>
          </p:spPr>
        </p:pic>
      </p:grpSp>
      <p:sp>
        <p:nvSpPr>
          <p:cNvPr id="13" name="Title 12">
            <a:extLst>
              <a:ext uri="{FF2B5EF4-FFF2-40B4-BE49-F238E27FC236}">
                <a16:creationId xmlns:a16="http://schemas.microsoft.com/office/drawing/2014/main" id="{2C60C0AE-6C0F-715F-F743-D1D7759FF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6987"/>
          </a:xfrm>
        </p:spPr>
        <p:txBody>
          <a:bodyPr>
            <a:normAutofit fontScale="90000"/>
          </a:bodyPr>
          <a:lstStyle/>
          <a:p>
            <a:r>
              <a:rPr lang="en-US" dirty="0"/>
              <a:t>Compare and contrast: LLM vs search engine</a:t>
            </a:r>
          </a:p>
        </p:txBody>
      </p:sp>
    </p:spTree>
    <p:extLst>
      <p:ext uri="{BB962C8B-B14F-4D97-AF65-F5344CB8AC3E}">
        <p14:creationId xmlns:p14="http://schemas.microsoft.com/office/powerpoint/2010/main" val="1350094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A81C6-7BF2-9E0D-DFB3-8A3D06057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67808"/>
          </a:xfrm>
        </p:spPr>
        <p:txBody>
          <a:bodyPr>
            <a:normAutofit fontScale="90000"/>
          </a:bodyPr>
          <a:lstStyle/>
          <a:p>
            <a:r>
              <a:rPr lang="en-US" dirty="0"/>
              <a:t>My policy</a:t>
            </a:r>
          </a:p>
        </p:txBody>
      </p:sp>
      <p:pic>
        <p:nvPicPr>
          <p:cNvPr id="4" name="Picture 3" descr="A diagram of a computer error&#10;&#10;AI-generated content may be incorrect.">
            <a:extLst>
              <a:ext uri="{FF2B5EF4-FFF2-40B4-BE49-F238E27FC236}">
                <a16:creationId xmlns:a16="http://schemas.microsoft.com/office/drawing/2014/main" id="{1C9DCE79-4EE7-97F8-EF60-60ACE166C0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40" y="1032934"/>
            <a:ext cx="9902066" cy="554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032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F103A-756A-CFA3-A8F0-B02D8A343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1AA0EE7-D8A0-FCDE-59A2-EC0A6932CB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634" y="223837"/>
            <a:ext cx="8842966" cy="635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2400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26E413-AD2F-93F8-D1C4-D4C81A26BAD4}"/>
              </a:ext>
            </a:extLst>
          </p:cNvPr>
          <p:cNvSpPr txBox="1"/>
          <p:nvPr/>
        </p:nvSpPr>
        <p:spPr>
          <a:xfrm>
            <a:off x="839448" y="2285442"/>
            <a:ext cx="1089784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2800" dirty="0"/>
              <a:t>For your perusal: William and Mary’s writing center has </a:t>
            </a:r>
            <a:r>
              <a:rPr lang="en-US" sz="2800" dirty="0">
                <a:hlinkClick r:id="rId2"/>
              </a:rPr>
              <a:t>an AI statement</a:t>
            </a:r>
            <a:r>
              <a:rPr lang="en-US" sz="2800" dirty="0"/>
              <a:t>, and its Center for Teaching and Learning has an </a:t>
            </a:r>
            <a:r>
              <a:rPr lang="en-US" sz="2800" dirty="0">
                <a:hlinkClick r:id="rId3"/>
              </a:rPr>
              <a:t>Approaches to Teaching With Generative AI</a:t>
            </a:r>
            <a:r>
              <a:rPr lang="en-US" sz="2800" dirty="0"/>
              <a:t> and an </a:t>
            </a:r>
            <a:r>
              <a:rPr lang="en-US" sz="2800" dirty="0">
                <a:hlinkClick r:id="rId4"/>
              </a:rPr>
              <a:t>Instructor GenAI Policy Communication Guidelines </a:t>
            </a:r>
            <a:r>
              <a:rPr lang="en-US" sz="2800" dirty="0"/>
              <a:t>document.  </a:t>
            </a:r>
          </a:p>
        </p:txBody>
      </p:sp>
    </p:spTree>
    <p:extLst>
      <p:ext uri="{BB962C8B-B14F-4D97-AF65-F5344CB8AC3E}">
        <p14:creationId xmlns:p14="http://schemas.microsoft.com/office/powerpoint/2010/main" val="175754112"/>
      </p:ext>
    </p:extLst>
  </p:cSld>
  <p:clrMapOvr>
    <a:masterClrMapping/>
  </p:clrMapOvr>
</p:sld>
</file>

<file path=ppt/theme/theme1.xml><?xml version="1.0" encoding="utf-8"?>
<a:theme xmlns:a="http://schemas.openxmlformats.org/drawingml/2006/main" name="WM Del Vecchio">
  <a:themeElements>
    <a:clrScheme name="WM Del Vecchio">
      <a:dk1>
        <a:srgbClr val="183028"/>
      </a:dk1>
      <a:lt1>
        <a:sysClr val="window" lastClr="FFFFFF"/>
      </a:lt1>
      <a:dk2>
        <a:srgbClr val="5B6770"/>
      </a:dk2>
      <a:lt2>
        <a:srgbClr val="D0D3D4"/>
      </a:lt2>
      <a:accent1>
        <a:srgbClr val="CAB64B"/>
      </a:accent1>
      <a:accent2>
        <a:srgbClr val="789F90"/>
      </a:accent2>
      <a:accent3>
        <a:srgbClr val="789D4A"/>
      </a:accent3>
      <a:accent4>
        <a:srgbClr val="633714"/>
      </a:accent4>
      <a:accent5>
        <a:srgbClr val="B578B3"/>
      </a:accent5>
      <a:accent6>
        <a:srgbClr val="115740"/>
      </a:accent6>
      <a:hlink>
        <a:srgbClr val="0563C1"/>
      </a:hlink>
      <a:folHlink>
        <a:srgbClr val="954F7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M Del Vecchio" id="{95EF4936-14EF-4B6F-9A40-2F5364A97FED}" vid="{A6B74BA4-BA87-455D-ABF1-5153B8755F0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WM Del Vecchio</Template>
  <TotalTime>329</TotalTime>
  <Words>344</Words>
  <Application>Microsoft Office PowerPoint</Application>
  <PresentationFormat>Widescreen</PresentationFormat>
  <Paragraphs>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Calibri</vt:lpstr>
      <vt:lpstr>Calibri Light</vt:lpstr>
      <vt:lpstr>WM Del Vecchio</vt:lpstr>
      <vt:lpstr>Insights from Software Carpentry </vt:lpstr>
      <vt:lpstr>Considerations</vt:lpstr>
      <vt:lpstr>Compare and contrast: LLM vs search engine</vt:lpstr>
      <vt:lpstr>My policy</vt:lpstr>
      <vt:lpstr>PowerPoint Presentation</vt:lpstr>
      <vt:lpstr>PowerPoint Presentation</vt:lpstr>
    </vt:vector>
  </TitlesOfParts>
  <Company>William &amp; Mary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 Vecchio, Joanmarie</dc:creator>
  <cp:lastModifiedBy>Del Vecchio, Joanmarie</cp:lastModifiedBy>
  <cp:revision>1</cp:revision>
  <dcterms:created xsi:type="dcterms:W3CDTF">2026-01-09T18:38:07Z</dcterms:created>
  <dcterms:modified xsi:type="dcterms:W3CDTF">2026-01-23T16:28:22Z</dcterms:modified>
</cp:coreProperties>
</file>